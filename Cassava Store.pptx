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68" r:id="rId4"/>
    <p:sldId id="257" r:id="rId5"/>
    <p:sldId id="258" r:id="rId6"/>
    <p:sldId id="261" r:id="rId7"/>
    <p:sldId id="262" r:id="rId8"/>
    <p:sldId id="263" r:id="rId9"/>
    <p:sldId id="264" r:id="rId10"/>
    <p:sldId id="267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920" y="368280"/>
            <a:ext cx="793080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" name="Google Shape;11;p2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>
            <a:off x="3834360" y="126612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445428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576520" y="129276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2576520" y="218772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2576520" y="308268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2576520" y="393768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9" name="Google Shape;55;p13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0523400">
            <a:off x="6530760" y="56952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3445560"/>
            <a:ext cx="8113320" cy="127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1" name="Google Shape;59;p14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9518600">
            <a:off x="3620520" y="257076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body"/>
          </p:nvPr>
        </p:nvSpPr>
        <p:spPr>
          <a:xfrm>
            <a:off x="845280" y="1199520"/>
            <a:ext cx="4619880" cy="20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5" name="Google Shape;63;p15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3072000">
            <a:off x="-2614320" y="-1976760"/>
            <a:ext cx="4433400" cy="38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782680" y="1249560"/>
            <a:ext cx="3360960" cy="389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66;p16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3175400">
            <a:off x="172080" y="-2061000"/>
            <a:ext cx="4599360" cy="401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69;p17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4050000">
            <a:off x="7011720" y="-213912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86000" y="212400"/>
            <a:ext cx="81712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2" name="Google Shape;79;p18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4361400">
            <a:off x="5070240" y="270864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12400"/>
            <a:ext cx="81712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4" name="Google Shape;94;p19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1382600">
            <a:off x="5733360" y="-246888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560" y="535680"/>
            <a:ext cx="3417840" cy="75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5268600" y="3691080"/>
            <a:ext cx="3417840" cy="75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7" name="Google Shape;100;p20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20224800">
            <a:off x="-2000520" y="166788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478960" y="1791000"/>
            <a:ext cx="6207840" cy="291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57200" y="440280"/>
            <a:ext cx="129492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5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0" name="Google Shape;15;p3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8601600">
            <a:off x="2378880" y="-4229280"/>
            <a:ext cx="8775720" cy="76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242880" y="456480"/>
            <a:ext cx="5443200" cy="103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Google Shape;104;p21"/>
          <p:cNvSpPr/>
          <p:nvPr/>
        </p:nvSpPr>
        <p:spPr>
          <a:xfrm>
            <a:off x="457200" y="3846960"/>
            <a:ext cx="5757120" cy="55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3"/>
              </a:rPr>
              <a:t>Freepik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457200" y="1221480"/>
            <a:ext cx="8233560" cy="130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12400"/>
            <a:ext cx="822924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7" name="Google Shape;25;p5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2200200">
            <a:off x="-3751920" y="-38124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27;p6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5790200">
            <a:off x="-1680840" y="-1717200"/>
            <a:ext cx="4467240" cy="389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4053600" y="1704960"/>
            <a:ext cx="4512600" cy="283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469080" y="370800"/>
            <a:ext cx="2841480" cy="733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2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15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292739" y="4015951"/>
            <a:ext cx="421920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u="sng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Aplikasi</a:t>
            </a:r>
            <a:r>
              <a:rPr lang="en-US" sz="2000" b="1" u="sng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2000" b="1" u="sng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Pengelolaan</a:t>
            </a:r>
            <a:r>
              <a:rPr lang="en-US" sz="2000" b="1" u="sng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2000" b="1" u="sng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Penjualan</a:t>
            </a:r>
            <a:r>
              <a:rPr lang="en-US" sz="2000" b="1" u="sng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2000" b="1" u="sng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Makanan</a:t>
            </a:r>
            <a:r>
              <a:rPr lang="en-US" sz="2000" b="1" u="sng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dan </a:t>
            </a:r>
            <a:r>
              <a:rPr lang="en-US" sz="2000" b="1" u="sng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Minuman</a:t>
            </a:r>
            <a:r>
              <a:rPr lang="en-US" sz="2000" b="1" u="sng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2000" b="1" u="sng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Berbasis</a:t>
            </a:r>
            <a:r>
              <a:rPr lang="en-US" sz="2000" b="1" u="sng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r>
              <a:rPr lang="en-US" sz="2000" b="1" u="sng" strike="noStrike" dirty="0" err="1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Tahap</a:t>
            </a:r>
            <a:r>
              <a:rPr lang="en-US" sz="2000" b="1" u="sng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Awal</a:t>
            </a:r>
            <a:endParaRPr lang="en-US" sz="2000" b="1" u="sng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457200" y="371520"/>
            <a:ext cx="7934040" cy="24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0" b="0" u="none" strike="noStrike" dirty="0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Cassava</a:t>
            </a:r>
            <a:r>
              <a:rPr lang="en-US" sz="7500" b="0" i="1" u="none" strike="noStrike" dirty="0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 </a:t>
            </a:r>
            <a:r>
              <a:rPr lang="en-US" sz="7500" b="0" u="none" strike="noStrike" dirty="0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Store</a:t>
            </a:r>
            <a:endParaRPr lang="fr-FR" sz="7500" b="0" u="none" strike="noStrike" dirty="0">
              <a:solidFill>
                <a:schemeClr val="dk1"/>
              </a:solidFill>
              <a:effectLst/>
              <a:uFillTx/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B631E-9FED-7FBE-2F58-9E5C46D47A4F}"/>
              </a:ext>
            </a:extLst>
          </p:cNvPr>
          <p:cNvSpPr txBox="1"/>
          <p:nvPr/>
        </p:nvSpPr>
        <p:spPr>
          <a:xfrm>
            <a:off x="617478" y="1401134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KELOMPOK 2</a:t>
            </a:r>
            <a:endParaRPr lang="en-ID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DBBD94-D50C-98E3-58B8-8BF7D26088EC}"/>
              </a:ext>
            </a:extLst>
          </p:cNvPr>
          <p:cNvSpPr txBox="1"/>
          <p:nvPr/>
        </p:nvSpPr>
        <p:spPr>
          <a:xfrm>
            <a:off x="2815046" y="950323"/>
            <a:ext cx="56877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Montserrat Black" pitchFamily="2" charset="0"/>
              </a:rPr>
              <a:t>NAMA ANGGOTA:</a:t>
            </a:r>
          </a:p>
          <a:p>
            <a:r>
              <a:rPr lang="en-US" sz="2400" dirty="0">
                <a:latin typeface="Poppins" panose="00000800000000000000" pitchFamily="2" charset="0"/>
                <a:cs typeface="Poppins" panose="00000800000000000000" pitchFamily="2" charset="0"/>
              </a:rPr>
              <a:t>1. Nabil </a:t>
            </a:r>
            <a:r>
              <a:rPr lang="en-US" sz="2400" dirty="0" err="1">
                <a:latin typeface="Poppins" panose="00000800000000000000" pitchFamily="2" charset="0"/>
                <a:cs typeface="Poppins" panose="00000800000000000000" pitchFamily="2" charset="0"/>
              </a:rPr>
              <a:t>Rifqidiyanto</a:t>
            </a:r>
            <a:endParaRPr lang="en-US" sz="2400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r>
              <a:rPr lang="en-US" sz="2400" dirty="0">
                <a:latin typeface="Poppins" panose="00000800000000000000" pitchFamily="2" charset="0"/>
                <a:cs typeface="Poppins" panose="00000800000000000000" pitchFamily="2" charset="0"/>
              </a:rPr>
              <a:t>2. Muhammad Raihan </a:t>
            </a:r>
          </a:p>
          <a:p>
            <a:r>
              <a:rPr lang="en-US" sz="2400" dirty="0">
                <a:latin typeface="Poppins" panose="00000800000000000000" pitchFamily="2" charset="0"/>
                <a:cs typeface="Poppins" panose="00000800000000000000" pitchFamily="2" charset="0"/>
              </a:rPr>
              <a:t>3. Hafizh Wali </a:t>
            </a:r>
            <a:r>
              <a:rPr lang="en-US" sz="2400" dirty="0" err="1">
                <a:latin typeface="Poppins" panose="00000800000000000000" pitchFamily="2" charset="0"/>
                <a:cs typeface="Poppins" panose="00000800000000000000" pitchFamily="2" charset="0"/>
              </a:rPr>
              <a:t>Muta'ali</a:t>
            </a:r>
            <a:r>
              <a:rPr lang="en-US" sz="2400" dirty="0">
                <a:latin typeface="Poppins" panose="00000800000000000000" pitchFamily="2" charset="0"/>
                <a:cs typeface="Poppins" panose="00000800000000000000" pitchFamily="2" charset="0"/>
              </a:rPr>
              <a:t> </a:t>
            </a:r>
            <a:r>
              <a:rPr lang="en-US" sz="2400" dirty="0" err="1">
                <a:latin typeface="Poppins" panose="00000800000000000000" pitchFamily="2" charset="0"/>
                <a:cs typeface="Poppins" panose="00000800000000000000" pitchFamily="2" charset="0"/>
              </a:rPr>
              <a:t>Subyan</a:t>
            </a:r>
            <a:endParaRPr lang="en-US" sz="2400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r>
              <a:rPr lang="en-US" sz="2400" dirty="0">
                <a:latin typeface="Poppins" panose="00000800000000000000" pitchFamily="2" charset="0"/>
                <a:cs typeface="Poppins" panose="00000800000000000000" pitchFamily="2" charset="0"/>
              </a:rPr>
              <a:t>4. </a:t>
            </a:r>
            <a:r>
              <a:rPr lang="en-US" sz="2400" dirty="0" err="1">
                <a:latin typeface="Poppins" panose="00000800000000000000" pitchFamily="2" charset="0"/>
                <a:cs typeface="Poppins" panose="00000800000000000000" pitchFamily="2" charset="0"/>
              </a:rPr>
              <a:t>Musyafa</a:t>
            </a:r>
            <a:r>
              <a:rPr lang="en-US" sz="2400" dirty="0">
                <a:latin typeface="Poppins" panose="00000800000000000000" pitchFamily="2" charset="0"/>
                <a:cs typeface="Poppins" panose="00000800000000000000" pitchFamily="2" charset="0"/>
              </a:rPr>
              <a:t> </a:t>
            </a:r>
            <a:r>
              <a:rPr lang="en-US" sz="2400" dirty="0" err="1">
                <a:latin typeface="Poppins" panose="00000800000000000000" pitchFamily="2" charset="0"/>
                <a:cs typeface="Poppins" panose="00000800000000000000" pitchFamily="2" charset="0"/>
              </a:rPr>
              <a:t>Anasrullah</a:t>
            </a:r>
            <a:endParaRPr lang="en-US" sz="2400" dirty="0">
              <a:latin typeface="Poppins" panose="00000800000000000000" pitchFamily="2" charset="0"/>
              <a:cs typeface="Poppins" panose="00000800000000000000" pitchFamily="2" charset="0"/>
            </a:endParaRPr>
          </a:p>
          <a:p>
            <a:r>
              <a:rPr lang="en-US" sz="2400" dirty="0">
                <a:latin typeface="Poppins" panose="00000800000000000000" pitchFamily="2" charset="0"/>
                <a:cs typeface="Poppins" panose="00000800000000000000" pitchFamily="2" charset="0"/>
              </a:rPr>
              <a:t>5. Muhamad Rizky </a:t>
            </a:r>
            <a:r>
              <a:rPr lang="en-US" sz="2400" dirty="0" err="1">
                <a:latin typeface="Poppins" panose="00000800000000000000" pitchFamily="2" charset="0"/>
                <a:cs typeface="Poppins" panose="00000800000000000000" pitchFamily="2" charset="0"/>
              </a:rPr>
              <a:t>Rohidin</a:t>
            </a:r>
            <a:r>
              <a:rPr lang="en-US" sz="2400" dirty="0">
                <a:latin typeface="Poppins" panose="00000800000000000000" pitchFamily="2" charset="0"/>
                <a:cs typeface="Poppins" panose="00000800000000000000" pitchFamily="2" charset="0"/>
              </a:rPr>
              <a:t> Saputra</a:t>
            </a:r>
            <a:endParaRPr lang="en-ID" sz="2400" dirty="0"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105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438120"/>
            <a:ext cx="12949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5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Viaoda Libre"/>
              </a:rPr>
              <a:t>01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2476440" y="1790640"/>
            <a:ext cx="6210000" cy="29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 dirty="0" err="1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Tentang</a:t>
            </a:r>
            <a:r>
              <a:rPr lang="en-US" sz="4800" b="0" u="none" strike="noStrike" dirty="0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 Cassava Store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/>
          </p:nvPr>
        </p:nvSpPr>
        <p:spPr>
          <a:xfrm>
            <a:off x="847800" y="1200240"/>
            <a:ext cx="4619160" cy="210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Cassava Store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adalah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aplikasi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berbasis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terminal yang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berfungsi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sebagai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alat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untuk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mengelola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penjualan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dan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stok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produk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.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Dengan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aplikasi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ini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pengguna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dapat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melihat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daftar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barang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harga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dan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ketersediaan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stok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secara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real-time,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memproses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pembelian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serta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menghasilkan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struk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belanja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secara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otomatis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untuk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mendukung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kelancaran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transaksi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 Black" panose="020B0A04020102020204" pitchFamily="34" charset="0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514440" y="209520"/>
            <a:ext cx="81151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 dirty="0" err="1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Definisi</a:t>
            </a:r>
            <a:r>
              <a:rPr lang="en-US" sz="3300" b="0" u="none" strike="noStrike" dirty="0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 dan </a:t>
            </a:r>
            <a:r>
              <a:rPr lang="en-US" sz="3300" b="0" u="none" strike="noStrike" dirty="0" err="1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Fungsi</a:t>
            </a:r>
            <a:r>
              <a:rPr lang="en-US" sz="3300" b="0" i="1" u="none" strike="noStrike" dirty="0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 </a:t>
            </a:r>
            <a:r>
              <a:rPr lang="en-US" sz="3300" b="0" i="1" u="none" strike="noStrike" dirty="0" err="1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Aplikasi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Stencil" panose="040409050D0802020404" pitchFamily="82" charset="0"/>
            </a:endParaRPr>
          </a:p>
        </p:txBody>
      </p:sp>
      <p:pic>
        <p:nvPicPr>
          <p:cNvPr id="57" name="Google Shape;184;p31"/>
          <p:cNvPicPr/>
          <p:nvPr/>
        </p:nvPicPr>
        <p:blipFill>
          <a:blip r:embed="rId2"/>
          <a:srcRect l="20913" r="40199" b="19910"/>
          <a:stretch/>
        </p:blipFill>
        <p:spPr>
          <a:xfrm>
            <a:off x="5782680" y="1249560"/>
            <a:ext cx="3360960" cy="3893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438120"/>
            <a:ext cx="12949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5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Viaoda Libre"/>
              </a:rPr>
              <a:t>02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2476440" y="1790640"/>
            <a:ext cx="6210000" cy="291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 dirty="0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Fitur dan Alur </a:t>
            </a:r>
            <a:r>
              <a:rPr lang="en-US" sz="4800" b="0" u="none" strike="noStrike" dirty="0" err="1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Penggunaan</a:t>
            </a:r>
            <a:endParaRPr lang="fr-FR" sz="4800" b="0" u="none" strike="noStrike" dirty="0">
              <a:solidFill>
                <a:schemeClr val="dk1"/>
              </a:solidFill>
              <a:effectLst/>
              <a:uFillTx/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 dirty="0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Fitur Utama dan</a:t>
            </a:r>
            <a:r>
              <a:rPr lang="en-US" sz="3300" b="0" i="1" u="none" strike="noStrike" dirty="0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 </a:t>
            </a:r>
            <a:r>
              <a:rPr lang="en-US" sz="3300" b="0" i="1" u="none" strike="noStrike" dirty="0" err="1">
                <a:solidFill>
                  <a:schemeClr val="dk1"/>
                </a:solidFill>
                <a:effectLst/>
                <a:uFillTx/>
                <a:latin typeface="Poppins" panose="00000800000000000000" pitchFamily="2" charset="0"/>
                <a:ea typeface="Viaoda Libre"/>
                <a:cs typeface="Poppins" panose="00000800000000000000" pitchFamily="2" charset="0"/>
              </a:rPr>
              <a:t>Manfaatnya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Cassava Store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memiliki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fitur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utama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seperti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penampilan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daftar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barang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lengkap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dan yang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tersedia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aplikasi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akan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menyediakan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keranjang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untuk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user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gunakan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saat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memilih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brang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yang </a:t>
            </a:r>
            <a:r>
              <a:rPr lang="en-US" sz="1400" dirty="0" err="1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akan</a:t>
            </a:r>
            <a:r>
              <a:rPr lang="en-US" sz="1400" dirty="0">
                <a:solidFill>
                  <a:schemeClr val="dk1"/>
                </a:solidFill>
                <a:latin typeface="Arial Black" panose="020B0A04020102020204" pitchFamily="34" charset="0"/>
                <a:ea typeface="Albert Sans"/>
              </a:rPr>
              <a:t> di checkout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user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bisa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menggunakan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fitur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checkout Ketika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barang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sudah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di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pilih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lalu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struk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akan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di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tampilkan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jika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pembayaran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sudah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selesai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. Fitur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ini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memudahkan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pengguna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dalam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mengelola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transaksi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dengan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cepat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dan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mengurangi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risiko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kesalahan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stok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sehingga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meningkatkan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efisiensi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operasional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toko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847800" y="1200240"/>
            <a:ext cx="4619160" cy="210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Pengguna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memulai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dengan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membuka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menu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utama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dan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memilih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opsi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penambahan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barang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ke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keranjang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.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Validasi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stok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dilakukan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secara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otomatis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untuk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memastikan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barang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tersedia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.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Setelah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pemilihan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selesai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, proses checkout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mengakumulasi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total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harga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mengurangi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stok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di database, dan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mencetak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struk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transaksi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sehingga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memastikan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keakuratan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data dan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pendataan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Montserrat Black" pitchFamily="2" charset="0"/>
                <a:ea typeface="Albert Sans"/>
              </a:rPr>
              <a:t>penjualan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514440" y="209520"/>
            <a:ext cx="81151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 dirty="0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Proses </a:t>
            </a:r>
            <a:r>
              <a:rPr lang="en-US" sz="3300" b="0" u="none" strike="noStrike" dirty="0" err="1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Transaksi</a:t>
            </a:r>
            <a:r>
              <a:rPr lang="en-US" sz="3300" b="0" u="none" strike="noStrike" dirty="0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 dan </a:t>
            </a:r>
            <a:r>
              <a:rPr lang="en-US" sz="3300" b="0" u="none" strike="noStrike" dirty="0" err="1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Validasi</a:t>
            </a:r>
            <a:r>
              <a:rPr lang="en-US" sz="3300" b="0" i="1" u="none" strike="noStrike" dirty="0">
                <a:solidFill>
                  <a:schemeClr val="dk1"/>
                </a:solidFill>
                <a:effectLst/>
                <a:uFillTx/>
                <a:latin typeface="Stencil" panose="040409050D0802020404" pitchFamily="82" charset="0"/>
                <a:ea typeface="Viaoda Libre"/>
              </a:rPr>
              <a:t> Stok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Stencil" panose="040409050D0802020404" pitchFamily="82" charset="0"/>
            </a:endParaRPr>
          </a:p>
        </p:txBody>
      </p:sp>
      <p:pic>
        <p:nvPicPr>
          <p:cNvPr id="68" name="Google Shape;184;p31"/>
          <p:cNvPicPr/>
          <p:nvPr/>
        </p:nvPicPr>
        <p:blipFill>
          <a:blip r:embed="rId2"/>
          <a:srcRect l="20913" r="40199" b="19910"/>
          <a:stretch/>
        </p:blipFill>
        <p:spPr>
          <a:xfrm>
            <a:off x="5782680" y="1249560"/>
            <a:ext cx="2846880" cy="3059303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3448080"/>
            <a:ext cx="8115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 dirty="0" err="1">
                <a:solidFill>
                  <a:schemeClr val="dk1"/>
                </a:solidFill>
                <a:effectLst/>
                <a:uFillTx/>
                <a:latin typeface="Segoe UI Black" panose="020B0A02040204020203" pitchFamily="34" charset="0"/>
                <a:ea typeface="Segoe UI Black" panose="020B0A02040204020203" pitchFamily="34" charset="0"/>
              </a:rPr>
              <a:t>Kelebihan</a:t>
            </a:r>
            <a:r>
              <a:rPr lang="en-US" sz="3300" b="0" u="none" strike="noStrike" dirty="0">
                <a:solidFill>
                  <a:schemeClr val="dk1"/>
                </a:solidFill>
                <a:effectLst/>
                <a:uFillTx/>
                <a:latin typeface="Segoe UI Black" panose="020B0A02040204020203" pitchFamily="34" charset="0"/>
                <a:ea typeface="Segoe UI Black" panose="020B0A02040204020203" pitchFamily="34" charset="0"/>
              </a:rPr>
              <a:t> dan </a:t>
            </a:r>
            <a:r>
              <a:rPr lang="en-US" sz="3300" b="0" u="none" strike="noStrike" dirty="0" err="1">
                <a:solidFill>
                  <a:schemeClr val="dk1"/>
                </a:solidFill>
                <a:effectLst/>
                <a:uFillTx/>
                <a:latin typeface="Segoe UI Black" panose="020B0A02040204020203" pitchFamily="34" charset="0"/>
                <a:ea typeface="Segoe UI Black" panose="020B0A02040204020203" pitchFamily="34" charset="0"/>
              </a:rPr>
              <a:t>Kekurangan</a:t>
            </a:r>
            <a:r>
              <a:rPr lang="en-US" sz="3300" b="0" i="1" u="none" strike="noStrike" dirty="0">
                <a:solidFill>
                  <a:schemeClr val="dk1"/>
                </a:solidFill>
                <a:effectLst/>
                <a:uFillTx/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3300" b="0" i="1" u="none" strike="noStrike" dirty="0" err="1">
                <a:solidFill>
                  <a:schemeClr val="dk1"/>
                </a:solidFill>
                <a:effectLst/>
                <a:uFillTx/>
                <a:latin typeface="Segoe UI Black" panose="020B0A02040204020203" pitchFamily="34" charset="0"/>
                <a:ea typeface="Segoe UI Black" panose="020B0A02040204020203" pitchFamily="34" charset="0"/>
              </a:rPr>
              <a:t>Aplikasi</a:t>
            </a:r>
            <a:endParaRPr lang="fr-FR" sz="3300" b="0" u="none" strike="noStrike" dirty="0">
              <a:solidFill>
                <a:schemeClr val="dk1"/>
              </a:solidFill>
              <a:effectLst/>
              <a:uFillTx/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923760" y="1247760"/>
            <a:ext cx="7295760" cy="188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Kelebihan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aplikasi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meliputi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penyimpanan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data yang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terstruktur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proses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stok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otomatis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setelah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checkout,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serta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antarmuka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yang user-friendly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dengan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menu yang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jelas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.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Namun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aplikasi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ini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masih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memiliki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kekurangan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seperti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tampilan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berbasis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terminal,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tidak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adanya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fitur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edit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atau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hapus item di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keranjang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, dan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belum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sistem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penyimpanan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permanen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atau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keamanan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pengguna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 Black" panose="020B0A04020102020204" pitchFamily="34" charset="0"/>
                <a:ea typeface="Albert Sans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6429-0968-B06A-8336-D5E924AB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12399"/>
            <a:ext cx="812434" cy="702001"/>
          </a:xfrm>
        </p:spPr>
        <p:txBody>
          <a:bodyPr/>
          <a:lstStyle/>
          <a:p>
            <a:r>
              <a:rPr lang="en-US" i="1" dirty="0"/>
              <a:t>03</a:t>
            </a:r>
            <a:endParaRPr lang="en-ID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A38C3-5F5E-17D1-CC06-948D696E9632}"/>
              </a:ext>
            </a:extLst>
          </p:cNvPr>
          <p:cNvSpPr txBox="1"/>
          <p:nvPr/>
        </p:nvSpPr>
        <p:spPr>
          <a:xfrm>
            <a:off x="2699657" y="1294477"/>
            <a:ext cx="57890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Montserrat Black" pitchFamily="2" charset="0"/>
              </a:rPr>
              <a:t>DEMO APLIKASI</a:t>
            </a:r>
            <a:endParaRPr lang="en-ID" sz="8000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15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287;p41"/>
          <p:cNvPicPr/>
          <p:nvPr/>
        </p:nvPicPr>
        <p:blipFill>
          <a:blip r:embed="rId2">
            <a:alphaModFix amt="64000"/>
          </a:blip>
          <a:srcRect l="11023" r="13738" b="8154"/>
          <a:stretch/>
        </p:blipFill>
        <p:spPr>
          <a:xfrm rot="12735000">
            <a:off x="666000" y="-205164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783724" y="1478845"/>
            <a:ext cx="4887532" cy="132343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400" b="0" u="none" strike="noStrike" dirty="0">
                <a:solidFill>
                  <a:schemeClr val="dk1"/>
                </a:solidFill>
                <a:effectLst/>
                <a:uFillTx/>
                <a:latin typeface="Rockwell Extra Bold" panose="02060903040505020403" pitchFamily="18" charset="0"/>
                <a:ea typeface="Viaoda Libre"/>
              </a:rPr>
              <a:t>THANKS</a:t>
            </a:r>
            <a:endParaRPr lang="fr-FR" sz="7400" b="0" u="none" strike="noStrike" dirty="0">
              <a:solidFill>
                <a:schemeClr val="dk1"/>
              </a:solidFill>
              <a:effectLst/>
              <a:uFillTx/>
              <a:latin typeface="Rockwell Extra Bold" panose="020609030405050204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Gradient by Slidesgo">
  <a:themeElements>
    <a:clrScheme name="Simple Light">
      <a:dk1>
        <a:srgbClr val="000000"/>
      </a:dk1>
      <a:lt1>
        <a:srgbClr val="FFFBF8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295</Words>
  <Application>Microsoft Office PowerPoint</Application>
  <PresentationFormat>On-screen Show (16:9)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Albert Sans</vt:lpstr>
      <vt:lpstr>Algerian</vt:lpstr>
      <vt:lpstr>Arial</vt:lpstr>
      <vt:lpstr>Arial Black</vt:lpstr>
      <vt:lpstr>Calibri</vt:lpstr>
      <vt:lpstr>Montserrat Black</vt:lpstr>
      <vt:lpstr>OpenSymbol</vt:lpstr>
      <vt:lpstr>Poppins</vt:lpstr>
      <vt:lpstr>Rockwell Extra Bold</vt:lpstr>
      <vt:lpstr>Segoe UI Black</vt:lpstr>
      <vt:lpstr>Stencil</vt:lpstr>
      <vt:lpstr>Symbol</vt:lpstr>
      <vt:lpstr>Viaoda Libre</vt:lpstr>
      <vt:lpstr>Wingdings</vt:lpstr>
      <vt:lpstr>Minimal Gradient by Slidesgo</vt:lpstr>
      <vt:lpstr>Slidesgo Final Pages</vt:lpstr>
      <vt:lpstr>Cassava Store</vt:lpstr>
      <vt:lpstr>PowerPoint Presentation</vt:lpstr>
      <vt:lpstr>01</vt:lpstr>
      <vt:lpstr>Definisi dan Fungsi Aplikasi</vt:lpstr>
      <vt:lpstr>02</vt:lpstr>
      <vt:lpstr>Fitur Utama dan Manfaatnya</vt:lpstr>
      <vt:lpstr>Proses Transaksi dan Validasi Stok</vt:lpstr>
      <vt:lpstr>Kelebihan dan Kekurangan Aplikasi</vt:lpstr>
      <vt:lpstr>03</vt:lpstr>
      <vt:lpstr>THANKS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Muhamad Rizky R</dc:creator>
  <cp:lastModifiedBy>rizky saputra</cp:lastModifiedBy>
  <cp:revision>2</cp:revision>
  <dcterms:modified xsi:type="dcterms:W3CDTF">2025-12-07T14:09:01Z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2025-12-05T07:24:45Z</dcterms:created>
  <dc:creator>Unknown Creator</dc:creator>
  <dc:description/>
  <dc:language>en-US</dc:language>
  <cp:lastModifiedBy>Unknown Creator</cp:lastModifiedBy>
  <dcterms:modified xsi:type="dcterms:W3CDTF">2025-12-05T07:24:45Z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